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ounded Rectangle 1"/>
          <p:cNvSpPr/>
          <p:nvPr/>
        </p:nvSpPr>
        <p:spPr>
          <a:xfrm>
            <a:off x="1371600" y="1371600"/>
            <a:ext cx="9448495" cy="365760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a:solidFill>
                  <a:srgbClr val="BBE1FA"/>
                </a:solidFill>
              </a:defRPr>
            </a:pPr>
            <a:r>
              <a:t>BÁO CÁO KHOA HỌC DỮ LIỆU</a:t>
            </a:r>
          </a:p>
          <a:p>
            <a:pPr algn="ctr">
              <a:spcBef>
                <a:spcPts val="2000"/>
              </a:spcBef>
              <a:defRPr sz="3600" b="1">
                <a:solidFill>
                  <a:srgbClr val="FFFFFF"/>
                </a:solidFill>
              </a:defRPr>
            </a:pPr>
            <a:r>
              <a:t>PHÂN TÍCH VÀ KHAI THÁC DỮ LIỆU ĐẶT XE CÔNG NGHỆ</a:t>
            </a:r>
          </a:p>
        </p:txBody>
      </p:sp>
      <p:sp>
        <p:nvSpPr>
          <p:cNvPr id="3" name="TextBox 2"/>
          <p:cNvSpPr txBox="1"/>
          <p:nvPr/>
        </p:nvSpPr>
        <p:spPr>
          <a:xfrm>
            <a:off x="1371600" y="5303520"/>
            <a:ext cx="9448495" cy="914400"/>
          </a:xfrm>
          <a:prstGeom prst="rect">
            <a:avLst/>
          </a:prstGeom>
          <a:noFill/>
        </p:spPr>
        <p:txBody>
          <a:bodyPr wrap="none">
            <a:spAutoFit/>
          </a:bodyPr>
          <a:lstStyle/>
          <a:p>
            <a:pPr algn="ctr">
              <a:defRPr sz="2000" b="1">
                <a:solidFill>
                  <a:srgbClr val="505050"/>
                </a:solidFill>
              </a:defRPr>
            </a:pPr>
            <a:r>
              <a:t>Sinh viên: Đặng Đình Đạt   |   Khóa: K225480106003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MỤC TIÊU &amp; PHẠM VI NGHIÊN CỨU</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30000" cy="1371600"/>
          </a:xfrm>
          <a:prstGeom prst="rect">
            <a:avLst/>
          </a:prstGeom>
          <a:noFill/>
        </p:spPr>
        <p:txBody>
          <a:bodyPr wrap="square">
            <a:spAutoFit/>
          </a:bodyPr>
          <a:lstStyle/>
          <a:p>
            <a:pPr>
              <a:defRPr sz="1800" b="1">
                <a:solidFill>
                  <a:srgbClr val="0F4C75"/>
                </a:solidFill>
                <a:latin typeface="Arial"/>
              </a:defRPr>
            </a:pPr>
            <a:r>
              <a:t>1. Đặt vấn đề</a:t>
            </a:r>
          </a:p>
          <a:p>
            <a:pPr>
              <a:spcBef>
                <a:spcPts val="400"/>
              </a:spcBef>
              <a:spcAft>
                <a:spcPts val="400"/>
              </a:spcAft>
              <a:defRPr sz="1600">
                <a:solidFill>
                  <a:srgbClr val="3C3C3C"/>
                </a:solidFill>
                <a:latin typeface="Arial"/>
              </a:defRPr>
            </a:pPr>
            <a:r>
              <a:t>▪ Dịch vụ gọi xe (Grab, Be, Gojek) tạo ra Big Data phản ánh hành vi di chuyển đô thị.</a:t>
            </a:r>
          </a:p>
          <a:p>
            <a:pPr>
              <a:spcBef>
                <a:spcPts val="400"/>
              </a:spcBef>
              <a:spcAft>
                <a:spcPts val="400"/>
              </a:spcAft>
              <a:defRPr sz="1600">
                <a:solidFill>
                  <a:srgbClr val="3C3C3C"/>
                </a:solidFill>
                <a:latin typeface="Arial"/>
              </a:defRPr>
            </a:pPr>
            <a:r>
              <a:t>▪ Vấn đề cốt lõi: Hiện tượng 'Lệch pha cung - cầu' cục bộ gây kẹt xe, thời gian chờ lâu.</a:t>
            </a:r>
          </a:p>
        </p:txBody>
      </p:sp>
      <p:sp>
        <p:nvSpPr>
          <p:cNvPr id="5" name="TextBox 4"/>
          <p:cNvSpPr txBox="1"/>
          <p:nvPr/>
        </p:nvSpPr>
        <p:spPr>
          <a:xfrm>
            <a:off x="365760" y="2651760"/>
            <a:ext cx="11430000" cy="1371600"/>
          </a:xfrm>
          <a:prstGeom prst="rect">
            <a:avLst/>
          </a:prstGeom>
          <a:noFill/>
        </p:spPr>
        <p:txBody>
          <a:bodyPr wrap="square">
            <a:spAutoFit/>
          </a:bodyPr>
          <a:lstStyle/>
          <a:p>
            <a:pPr>
              <a:defRPr sz="1800" b="1">
                <a:solidFill>
                  <a:srgbClr val="0F4C75"/>
                </a:solidFill>
                <a:latin typeface="Arial"/>
              </a:defRPr>
            </a:pPr>
            <a:r>
              <a:t>2. Mục tiêu nghiên cứu</a:t>
            </a:r>
          </a:p>
          <a:p>
            <a:pPr>
              <a:spcBef>
                <a:spcPts val="400"/>
              </a:spcBef>
              <a:spcAft>
                <a:spcPts val="400"/>
              </a:spcAft>
              <a:defRPr sz="1600">
                <a:solidFill>
                  <a:srgbClr val="3C3C3C"/>
                </a:solidFill>
                <a:latin typeface="Arial"/>
              </a:defRPr>
            </a:pPr>
            <a:r>
              <a:t>▪ Trực quan hóa (EDA) quy luật di chuyển theo Giờ, Ngày, Không gian tại TP.HCM.</a:t>
            </a:r>
          </a:p>
          <a:p>
            <a:pPr>
              <a:spcBef>
                <a:spcPts val="400"/>
              </a:spcBef>
              <a:spcAft>
                <a:spcPts val="400"/>
              </a:spcAft>
              <a:defRPr sz="1600">
                <a:solidFill>
                  <a:srgbClr val="3C3C3C"/>
                </a:solidFill>
                <a:latin typeface="Arial"/>
              </a:defRPr>
            </a:pPr>
            <a:r>
              <a:t>▪ Sử dụng AI/Machine Learning để giải quyết tự động bài toán điều phối.</a:t>
            </a:r>
          </a:p>
        </p:txBody>
      </p:sp>
      <p:sp>
        <p:nvSpPr>
          <p:cNvPr id="6" name="TextBox 5"/>
          <p:cNvSpPr txBox="1"/>
          <p:nvPr/>
        </p:nvSpPr>
        <p:spPr>
          <a:xfrm>
            <a:off x="365760" y="4023360"/>
            <a:ext cx="11430000" cy="1371600"/>
          </a:xfrm>
          <a:prstGeom prst="rect">
            <a:avLst/>
          </a:prstGeom>
          <a:noFill/>
        </p:spPr>
        <p:txBody>
          <a:bodyPr wrap="square">
            <a:spAutoFit/>
          </a:bodyPr>
          <a:lstStyle/>
          <a:p>
            <a:pPr>
              <a:defRPr sz="1800" b="1">
                <a:solidFill>
                  <a:srgbClr val="0F4C75"/>
                </a:solidFill>
                <a:latin typeface="Arial"/>
              </a:defRPr>
            </a:pPr>
            <a:r>
              <a:t>3. Phạm vi nghiên cứu</a:t>
            </a:r>
          </a:p>
          <a:p>
            <a:pPr>
              <a:spcBef>
                <a:spcPts val="400"/>
              </a:spcBef>
              <a:spcAft>
                <a:spcPts val="400"/>
              </a:spcAft>
              <a:defRPr sz="1600">
                <a:solidFill>
                  <a:srgbClr val="3C3C3C"/>
                </a:solidFill>
                <a:latin typeface="Arial"/>
              </a:defRPr>
            </a:pPr>
            <a:r>
              <a:t>▪ Không gian: Nội thành TP.HCM (Q1, Q3, Q7, Tân Bình, Tp Thủ Đức).</a:t>
            </a:r>
          </a:p>
          <a:p>
            <a:pPr>
              <a:spcBef>
                <a:spcPts val="400"/>
              </a:spcBef>
              <a:spcAft>
                <a:spcPts val="400"/>
              </a:spcAft>
              <a:defRPr sz="1600">
                <a:solidFill>
                  <a:srgbClr val="3C3C3C"/>
                </a:solidFill>
                <a:latin typeface="Arial"/>
              </a:defRPr>
            </a:pPr>
            <a:r>
              <a:t>▪ Thời gian: Dữ liệu hành vi di chuyển từ T4-T9/2024.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CƠ SỞ LÝ THUYẾT: QUY TRÌNH KHOA HỌC DỮ LIỆU (CRISP-DM)</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6400800" cy="1371600"/>
          </a:xfrm>
          <a:prstGeom prst="rect">
            <a:avLst/>
          </a:prstGeom>
          <a:noFill/>
        </p:spPr>
        <p:txBody>
          <a:bodyPr wrap="square">
            <a:spAutoFit/>
          </a:bodyPr>
          <a:lstStyle/>
          <a:p>
            <a:pPr>
              <a:defRPr sz="1800" b="1">
                <a:solidFill>
                  <a:srgbClr val="0F4C75"/>
                </a:solidFill>
                <a:latin typeface="Arial"/>
              </a:defRPr>
            </a:pPr>
            <a:r>
              <a:t>1. Tiền xử lý dữ liệu (Data Preprocessing)</a:t>
            </a:r>
          </a:p>
          <a:p>
            <a:pPr>
              <a:spcBef>
                <a:spcPts val="400"/>
              </a:spcBef>
              <a:spcAft>
                <a:spcPts val="400"/>
              </a:spcAft>
              <a:defRPr sz="1600">
                <a:solidFill>
                  <a:srgbClr val="3C3C3C"/>
                </a:solidFill>
                <a:latin typeface="Arial"/>
              </a:defRPr>
            </a:pPr>
            <a:r>
              <a:t>▪ Chuyển đổi dữ liệu chuỗi văn bản sang định dạng Thời gian (Datetime) để thao tác.</a:t>
            </a:r>
          </a:p>
          <a:p>
            <a:pPr>
              <a:spcBef>
                <a:spcPts val="400"/>
              </a:spcBef>
              <a:spcAft>
                <a:spcPts val="400"/>
              </a:spcAft>
              <a:defRPr sz="1600">
                <a:solidFill>
                  <a:srgbClr val="3C3C3C"/>
                </a:solidFill>
                <a:latin typeface="Arial"/>
              </a:defRPr>
            </a:pPr>
            <a:r>
              <a:t>▪ Chuẩn hóa dữ liệu (StandardScaler) để các giá trị không bị chênh lệch quá lớn.</a:t>
            </a:r>
          </a:p>
        </p:txBody>
      </p:sp>
      <p:sp>
        <p:nvSpPr>
          <p:cNvPr id="5" name="TextBox 4"/>
          <p:cNvSpPr txBox="1"/>
          <p:nvPr/>
        </p:nvSpPr>
        <p:spPr>
          <a:xfrm>
            <a:off x="365760" y="2651760"/>
            <a:ext cx="6400800" cy="1371600"/>
          </a:xfrm>
          <a:prstGeom prst="rect">
            <a:avLst/>
          </a:prstGeom>
          <a:noFill/>
        </p:spPr>
        <p:txBody>
          <a:bodyPr wrap="square">
            <a:spAutoFit/>
          </a:bodyPr>
          <a:lstStyle/>
          <a:p>
            <a:pPr>
              <a:defRPr sz="1800" b="1">
                <a:solidFill>
                  <a:srgbClr val="0F4C75"/>
                </a:solidFill>
                <a:latin typeface="Arial"/>
              </a:defRPr>
            </a:pPr>
            <a:r>
              <a:t>2. Kỹ nghệ Đặc trưng (Feature Engineering)</a:t>
            </a:r>
          </a:p>
          <a:p>
            <a:pPr>
              <a:spcBef>
                <a:spcPts val="400"/>
              </a:spcBef>
              <a:spcAft>
                <a:spcPts val="400"/>
              </a:spcAft>
              <a:defRPr sz="1600">
                <a:solidFill>
                  <a:srgbClr val="3C3C3C"/>
                </a:solidFill>
                <a:latin typeface="Arial"/>
              </a:defRPr>
            </a:pPr>
            <a:r>
              <a:t>▪ Tách biến Datetime gốc thành các biến mang ý nghĩa kinh doanh: 'Giờ', 'Thứ', 'Tháng'.</a:t>
            </a:r>
          </a:p>
          <a:p>
            <a:pPr>
              <a:spcBef>
                <a:spcPts val="400"/>
              </a:spcBef>
              <a:spcAft>
                <a:spcPts val="400"/>
              </a:spcAft>
              <a:defRPr sz="1600">
                <a:solidFill>
                  <a:srgbClr val="3C3C3C"/>
                </a:solidFill>
                <a:latin typeface="Arial"/>
              </a:defRPr>
            </a:pPr>
            <a:r>
              <a:t>▪ Bước này là linh hồn giúp máy tính dễ dàng tìm ra quy luật theo thời gian.</a:t>
            </a:r>
          </a:p>
        </p:txBody>
      </p:sp>
      <p:sp>
        <p:nvSpPr>
          <p:cNvPr id="6" name="TextBox 5"/>
          <p:cNvSpPr txBox="1"/>
          <p:nvPr/>
        </p:nvSpPr>
        <p:spPr>
          <a:xfrm>
            <a:off x="365760" y="4023360"/>
            <a:ext cx="6400800" cy="1371600"/>
          </a:xfrm>
          <a:prstGeom prst="rect">
            <a:avLst/>
          </a:prstGeom>
          <a:noFill/>
        </p:spPr>
        <p:txBody>
          <a:bodyPr wrap="square">
            <a:spAutoFit/>
          </a:bodyPr>
          <a:lstStyle/>
          <a:p>
            <a:pPr>
              <a:defRPr sz="1800" b="1">
                <a:solidFill>
                  <a:srgbClr val="0F4C75"/>
                </a:solidFill>
                <a:latin typeface="Arial"/>
              </a:defRPr>
            </a:pPr>
            <a:r>
              <a:t>3. Huấn luyện và Đánh giá (Modeling &amp; Evaluation)</a:t>
            </a:r>
          </a:p>
          <a:p>
            <a:pPr>
              <a:spcBef>
                <a:spcPts val="400"/>
              </a:spcBef>
              <a:spcAft>
                <a:spcPts val="400"/>
              </a:spcAft>
              <a:defRPr sz="1600">
                <a:solidFill>
                  <a:srgbClr val="3C3C3C"/>
                </a:solidFill>
                <a:latin typeface="Arial"/>
              </a:defRPr>
            </a:pPr>
            <a:r>
              <a:t>▪ Chia dữ liệu theo tỷ lệ 80% (Huấn luyện - Train) và 20% (Kiểm thử - Test).</a:t>
            </a:r>
          </a:p>
          <a:p>
            <a:pPr>
              <a:spcBef>
                <a:spcPts val="400"/>
              </a:spcBef>
              <a:spcAft>
                <a:spcPts val="400"/>
              </a:spcAft>
              <a:defRPr sz="1600">
                <a:solidFill>
                  <a:srgbClr val="3C3C3C"/>
                </a:solidFill>
                <a:latin typeface="Arial"/>
              </a:defRPr>
            </a:pPr>
            <a:r>
              <a:t>▪ Đánh giá sai số dự đoán bằng MAE (Sai số tuyệt đối trung bình).</a:t>
            </a:r>
          </a:p>
        </p:txBody>
      </p:sp>
      <p:pic>
        <p:nvPicPr>
          <p:cNvPr id="7" name="Picture 6" descr="crisp_dm.png"/>
          <p:cNvPicPr>
            <a:picLocks noChangeAspect="1"/>
          </p:cNvPicPr>
          <p:nvPr/>
        </p:nvPicPr>
        <p:blipFill>
          <a:blip r:embed="rId2"/>
          <a:stretch>
            <a:fillRect/>
          </a:stretch>
        </p:blipFill>
        <p:spPr>
          <a:xfrm>
            <a:off x="6858000" y="1645920"/>
            <a:ext cx="4754880" cy="4754880"/>
          </a:xfrm>
          <a:prstGeom prst="rect">
            <a:avLst/>
          </a:prstGeom>
          <a:ln w="1905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THUẬT TOÁN HỌC KHÔNG GIÁM SÁT: K-MEANS CLUSTERING</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6400800" cy="1371600"/>
          </a:xfrm>
          <a:prstGeom prst="rect">
            <a:avLst/>
          </a:prstGeom>
          <a:noFill/>
        </p:spPr>
        <p:txBody>
          <a:bodyPr wrap="square">
            <a:spAutoFit/>
          </a:bodyPr>
          <a:lstStyle/>
          <a:p>
            <a:pPr>
              <a:defRPr sz="1800" b="1">
                <a:solidFill>
                  <a:srgbClr val="0F4C75"/>
                </a:solidFill>
                <a:latin typeface="Arial"/>
              </a:defRPr>
            </a:pPr>
            <a:r>
              <a:t>1. Bản chất thuật toán</a:t>
            </a:r>
          </a:p>
          <a:p>
            <a:pPr>
              <a:spcBef>
                <a:spcPts val="400"/>
              </a:spcBef>
              <a:spcAft>
                <a:spcPts val="400"/>
              </a:spcAft>
              <a:defRPr sz="1600">
                <a:solidFill>
                  <a:srgbClr val="3C3C3C"/>
                </a:solidFill>
                <a:latin typeface="Arial"/>
              </a:defRPr>
            </a:pPr>
            <a:r>
              <a:t>▪ Thuộc nhóm Học không giám sát (Unsupervised Learning) vì dữ liệu không có nhãn định sẵn.</a:t>
            </a:r>
          </a:p>
          <a:p>
            <a:pPr>
              <a:spcBef>
                <a:spcPts val="400"/>
              </a:spcBef>
              <a:spcAft>
                <a:spcPts val="400"/>
              </a:spcAft>
              <a:defRPr sz="1600">
                <a:solidFill>
                  <a:srgbClr val="3C3C3C"/>
                </a:solidFill>
                <a:latin typeface="Arial"/>
              </a:defRPr>
            </a:pPr>
            <a:r>
              <a:t>▪ Gom nhóm các tọa độ điểm dựa trên khoảng cách Euclide ngắn nhất đến Tâm cụm (Centroid).</a:t>
            </a:r>
          </a:p>
        </p:txBody>
      </p:sp>
      <p:sp>
        <p:nvSpPr>
          <p:cNvPr id="5" name="TextBox 4"/>
          <p:cNvSpPr txBox="1"/>
          <p:nvPr/>
        </p:nvSpPr>
        <p:spPr>
          <a:xfrm>
            <a:off x="365760" y="2651760"/>
            <a:ext cx="6400800" cy="1371600"/>
          </a:xfrm>
          <a:prstGeom prst="rect">
            <a:avLst/>
          </a:prstGeom>
          <a:noFill/>
        </p:spPr>
        <p:txBody>
          <a:bodyPr wrap="square">
            <a:spAutoFit/>
          </a:bodyPr>
          <a:lstStyle/>
          <a:p>
            <a:pPr>
              <a:defRPr sz="1800" b="1">
                <a:solidFill>
                  <a:srgbClr val="0F4C75"/>
                </a:solidFill>
                <a:latin typeface="Arial"/>
              </a:defRPr>
            </a:pPr>
            <a:r>
              <a:t>2. Quá trình hội tụ</a:t>
            </a:r>
          </a:p>
          <a:p>
            <a:pPr>
              <a:spcBef>
                <a:spcPts val="400"/>
              </a:spcBef>
              <a:spcAft>
                <a:spcPts val="400"/>
              </a:spcAft>
              <a:defRPr sz="1600">
                <a:solidFill>
                  <a:srgbClr val="3C3C3C"/>
                </a:solidFill>
                <a:latin typeface="Arial"/>
              </a:defRPr>
            </a:pPr>
            <a:r>
              <a:t>▪ Lặp đi lặp lại việc 'Đo khoảng cách' và 'Di chuyển Tâm cụm' cho đến khi các cụm ổn định, không thay đổi.</a:t>
            </a:r>
          </a:p>
        </p:txBody>
      </p:sp>
      <p:sp>
        <p:nvSpPr>
          <p:cNvPr id="6" name="TextBox 5"/>
          <p:cNvSpPr txBox="1"/>
          <p:nvPr/>
        </p:nvSpPr>
        <p:spPr>
          <a:xfrm>
            <a:off x="365760" y="3703320"/>
            <a:ext cx="6400800" cy="1371600"/>
          </a:xfrm>
          <a:prstGeom prst="rect">
            <a:avLst/>
          </a:prstGeom>
          <a:noFill/>
        </p:spPr>
        <p:txBody>
          <a:bodyPr wrap="square">
            <a:spAutoFit/>
          </a:bodyPr>
          <a:lstStyle/>
          <a:p>
            <a:pPr>
              <a:defRPr sz="1800" b="1">
                <a:solidFill>
                  <a:srgbClr val="0F4C75"/>
                </a:solidFill>
                <a:latin typeface="Arial"/>
              </a:defRPr>
            </a:pPr>
            <a:r>
              <a:t>3. Ứng dụng thực tiễn trong hệ thống</a:t>
            </a:r>
          </a:p>
          <a:p>
            <a:pPr>
              <a:spcBef>
                <a:spcPts val="400"/>
              </a:spcBef>
              <a:spcAft>
                <a:spcPts val="400"/>
              </a:spcAft>
              <a:defRPr sz="1600">
                <a:solidFill>
                  <a:srgbClr val="3C3C3C"/>
                </a:solidFill>
                <a:latin typeface="Arial"/>
              </a:defRPr>
            </a:pPr>
            <a:r>
              <a:t>▪ Gom bản đồ TP.HCM thành K=3 khu vực: Nhu cầu Cao, Trung Bình, Thấp để điều chỉnh giá tự động.</a:t>
            </a:r>
          </a:p>
        </p:txBody>
      </p:sp>
      <p:pic>
        <p:nvPicPr>
          <p:cNvPr id="7" name="Picture 6" descr="kmeans.png"/>
          <p:cNvPicPr>
            <a:picLocks noChangeAspect="1"/>
          </p:cNvPicPr>
          <p:nvPr/>
        </p:nvPicPr>
        <p:blipFill>
          <a:blip r:embed="rId2"/>
          <a:stretch>
            <a:fillRect/>
          </a:stretch>
        </p:blipFill>
        <p:spPr>
          <a:xfrm>
            <a:off x="6858000" y="1645920"/>
            <a:ext cx="4754880" cy="4754880"/>
          </a:xfrm>
          <a:prstGeom prst="rect">
            <a:avLst/>
          </a:prstGeom>
          <a:ln w="1905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THUẬT TOÁN HỌC CÓ GIÁM SÁT: GRADIENT BOOSTING</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6400800" cy="1371600"/>
          </a:xfrm>
          <a:prstGeom prst="rect">
            <a:avLst/>
          </a:prstGeom>
          <a:noFill/>
        </p:spPr>
        <p:txBody>
          <a:bodyPr wrap="square">
            <a:spAutoFit/>
          </a:bodyPr>
          <a:lstStyle/>
          <a:p>
            <a:pPr>
              <a:defRPr sz="1800" b="1">
                <a:solidFill>
                  <a:srgbClr val="0F4C75"/>
                </a:solidFill>
                <a:latin typeface="Arial"/>
              </a:defRPr>
            </a:pPr>
            <a:r>
              <a:t>1. Bản chất thuật toán (Ensemble Learning)</a:t>
            </a:r>
          </a:p>
          <a:p>
            <a:pPr>
              <a:spcBef>
                <a:spcPts val="400"/>
              </a:spcBef>
              <a:spcAft>
                <a:spcPts val="400"/>
              </a:spcAft>
              <a:defRPr sz="1600">
                <a:solidFill>
                  <a:srgbClr val="3C3C3C"/>
                </a:solidFill>
                <a:latin typeface="Arial"/>
              </a:defRPr>
            </a:pPr>
            <a:r>
              <a:t>▪ Thuộc nhóm Học kết hợp (Ensemble Learning). Thay vì 1 siêu mô hình, nó kết hợp hàng trăm Cây quyết định (Decision Trees) nhỏ.</a:t>
            </a:r>
          </a:p>
        </p:txBody>
      </p:sp>
      <p:sp>
        <p:nvSpPr>
          <p:cNvPr id="5" name="TextBox 4"/>
          <p:cNvSpPr txBox="1"/>
          <p:nvPr/>
        </p:nvSpPr>
        <p:spPr>
          <a:xfrm>
            <a:off x="365760" y="2331720"/>
            <a:ext cx="6400800" cy="1371600"/>
          </a:xfrm>
          <a:prstGeom prst="rect">
            <a:avLst/>
          </a:prstGeom>
          <a:noFill/>
        </p:spPr>
        <p:txBody>
          <a:bodyPr wrap="square">
            <a:spAutoFit/>
          </a:bodyPr>
          <a:lstStyle/>
          <a:p>
            <a:pPr>
              <a:defRPr sz="1800" b="1">
                <a:solidFill>
                  <a:srgbClr val="0F4C75"/>
                </a:solidFill>
                <a:latin typeface="Arial"/>
              </a:defRPr>
            </a:pPr>
            <a:r>
              <a:t>2. Sửa sai tuần tự (Sequential Boosting)</a:t>
            </a:r>
          </a:p>
          <a:p>
            <a:pPr>
              <a:spcBef>
                <a:spcPts val="400"/>
              </a:spcBef>
              <a:spcAft>
                <a:spcPts val="400"/>
              </a:spcAft>
              <a:defRPr sz="1600">
                <a:solidFill>
                  <a:srgbClr val="3C3C3C"/>
                </a:solidFill>
                <a:latin typeface="Arial"/>
              </a:defRPr>
            </a:pPr>
            <a:r>
              <a:t>▪ Quy luật cốt lõi: Cây sinh ra sau KHÔNG học lại từ đầu, mà nó học 'cái sai số' của cây trước đó để sửa lỗi bù trừ.</a:t>
            </a:r>
          </a:p>
          <a:p>
            <a:pPr>
              <a:spcBef>
                <a:spcPts val="400"/>
              </a:spcBef>
              <a:spcAft>
                <a:spcPts val="400"/>
              </a:spcAft>
              <a:defRPr sz="1600">
                <a:solidFill>
                  <a:srgbClr val="3C3C3C"/>
                </a:solidFill>
                <a:latin typeface="Arial"/>
              </a:defRPr>
            </a:pPr>
            <a:r>
              <a:t>▪ Tối ưu bằng hàm mất mát (Gradient Descent) để hạ sai số dần dần.</a:t>
            </a:r>
          </a:p>
        </p:txBody>
      </p:sp>
      <p:sp>
        <p:nvSpPr>
          <p:cNvPr id="6" name="TextBox 5"/>
          <p:cNvSpPr txBox="1"/>
          <p:nvPr/>
        </p:nvSpPr>
        <p:spPr>
          <a:xfrm>
            <a:off x="365760" y="3703320"/>
            <a:ext cx="6400800" cy="1371600"/>
          </a:xfrm>
          <a:prstGeom prst="rect">
            <a:avLst/>
          </a:prstGeom>
          <a:noFill/>
        </p:spPr>
        <p:txBody>
          <a:bodyPr wrap="square">
            <a:spAutoFit/>
          </a:bodyPr>
          <a:lstStyle/>
          <a:p>
            <a:pPr>
              <a:defRPr sz="1800" b="1">
                <a:solidFill>
                  <a:srgbClr val="0F4C75"/>
                </a:solidFill>
                <a:latin typeface="Arial"/>
              </a:defRPr>
            </a:pPr>
            <a:r>
              <a:t>3. Sức mạnh vượt trội</a:t>
            </a:r>
          </a:p>
          <a:p>
            <a:pPr>
              <a:spcBef>
                <a:spcPts val="400"/>
              </a:spcBef>
              <a:spcAft>
                <a:spcPts val="400"/>
              </a:spcAft>
              <a:defRPr sz="1600">
                <a:solidFill>
                  <a:srgbClr val="3C3C3C"/>
                </a:solidFill>
                <a:latin typeface="Arial"/>
              </a:defRPr>
            </a:pPr>
            <a:r>
              <a:t>▪ Trị dứt điểm được các loại dữ liệu phức tạp, phi tuyến tính (như dao động giao thông).</a:t>
            </a:r>
          </a:p>
          <a:p>
            <a:pPr>
              <a:spcBef>
                <a:spcPts val="400"/>
              </a:spcBef>
              <a:spcAft>
                <a:spcPts val="400"/>
              </a:spcAft>
              <a:defRPr sz="1600">
                <a:solidFill>
                  <a:srgbClr val="3C3C3C"/>
                </a:solidFill>
                <a:latin typeface="Arial"/>
              </a:defRPr>
            </a:pPr>
            <a:r>
              <a:t>▪ Cho biết biến số nào quan trọng nhất (Feature Importance).</a:t>
            </a:r>
          </a:p>
        </p:txBody>
      </p:sp>
      <p:pic>
        <p:nvPicPr>
          <p:cNvPr id="7" name="Picture 6" descr="gradient_boosting.png"/>
          <p:cNvPicPr>
            <a:picLocks noChangeAspect="1"/>
          </p:cNvPicPr>
          <p:nvPr/>
        </p:nvPicPr>
        <p:blipFill>
          <a:blip r:embed="rId2"/>
          <a:stretch>
            <a:fillRect/>
          </a:stretch>
        </p:blipFill>
        <p:spPr>
          <a:xfrm>
            <a:off x="6858000" y="1645920"/>
            <a:ext cx="4754880" cy="4754880"/>
          </a:xfrm>
          <a:prstGeom prst="rect">
            <a:avLst/>
          </a:prstGeom>
          <a:ln w="1905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CÂU 1: Nhu cầu gọi xe tập trung cao nhất vào khung giờ nào trong ngày?</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88720"/>
            <a:ext cx="5486400" cy="1371600"/>
          </a:xfrm>
          <a:prstGeom prst="rect">
            <a:avLst/>
          </a:prstGeom>
          <a:noFill/>
        </p:spPr>
        <p:txBody>
          <a:bodyPr wrap="square">
            <a:spAutoFit/>
          </a:bodyPr>
          <a:lstStyle/>
          <a:p>
            <a:pPr>
              <a:defRPr sz="1800" b="1">
                <a:solidFill>
                  <a:srgbClr val="0F4C75"/>
                </a:solidFill>
                <a:latin typeface="Arial"/>
              </a:defRPr>
            </a:pPr>
            <a:r>
              <a:t>1. Phân tích bài toán</a:t>
            </a:r>
          </a:p>
          <a:p>
            <a:pPr>
              <a:spcBef>
                <a:spcPts val="400"/>
              </a:spcBef>
              <a:spcAft>
                <a:spcPts val="400"/>
              </a:spcAft>
              <a:defRPr sz="1600">
                <a:solidFill>
                  <a:srgbClr val="3C3C3C"/>
                </a:solidFill>
                <a:latin typeface="Arial"/>
              </a:defRPr>
            </a:pPr>
            <a:r>
              <a:t>▪ Xác định thời điểm 'vàng' giao thông để chuẩn bị nguồn lực.</a:t>
            </a:r>
          </a:p>
          <a:p>
            <a:pPr>
              <a:spcBef>
                <a:spcPts val="400"/>
              </a:spcBef>
              <a:spcAft>
                <a:spcPts val="400"/>
              </a:spcAft>
              <a:defRPr sz="1600">
                <a:solidFill>
                  <a:srgbClr val="3C3C3C"/>
                </a:solidFill>
                <a:latin typeface="Arial"/>
              </a:defRPr>
            </a:pPr>
            <a:r>
              <a:t>▪ Giảm thiểu tỷ lệ hủy chuyến do thiếu xe.</a:t>
            </a:r>
          </a:p>
        </p:txBody>
      </p:sp>
      <p:sp>
        <p:nvSpPr>
          <p:cNvPr id="5" name="TextBox 4"/>
          <p:cNvSpPr txBox="1"/>
          <p:nvPr/>
        </p:nvSpPr>
        <p:spPr>
          <a:xfrm>
            <a:off x="365760" y="2377440"/>
            <a:ext cx="5486400" cy="1371600"/>
          </a:xfrm>
          <a:prstGeom prst="rect">
            <a:avLst/>
          </a:prstGeom>
          <a:noFill/>
        </p:spPr>
        <p:txBody>
          <a:bodyPr wrap="square">
            <a:spAutoFit/>
          </a:bodyPr>
          <a:lstStyle/>
          <a:p>
            <a:pPr>
              <a:defRPr sz="1800" b="1">
                <a:solidFill>
                  <a:srgbClr val="0F4C75"/>
                </a:solidFill>
                <a:latin typeface="Arial"/>
              </a:defRPr>
            </a:pPr>
            <a:r>
              <a:t>2. Phương pháp tính</a:t>
            </a:r>
          </a:p>
          <a:p>
            <a:pPr>
              <a:spcBef>
                <a:spcPts val="400"/>
              </a:spcBef>
              <a:spcAft>
                <a:spcPts val="400"/>
              </a:spcAft>
              <a:defRPr sz="1600">
                <a:solidFill>
                  <a:srgbClr val="3C3C3C"/>
                </a:solidFill>
                <a:latin typeface="Arial"/>
              </a:defRPr>
            </a:pPr>
            <a:r>
              <a:t>▪ Dùng hàm của Pandas để trích xuất thuộc tính 'Giờ'.</a:t>
            </a:r>
          </a:p>
          <a:p>
            <a:pPr>
              <a:spcBef>
                <a:spcPts val="400"/>
              </a:spcBef>
              <a:spcAft>
                <a:spcPts val="400"/>
              </a:spcAft>
              <a:defRPr sz="1600">
                <a:solidFill>
                  <a:srgbClr val="3C3C3C"/>
                </a:solidFill>
                <a:latin typeface="Arial"/>
              </a:defRPr>
            </a:pPr>
            <a:r>
              <a:t>▪ Sử dụng groupby('Gio') và đếm tổng số chuyến.</a:t>
            </a:r>
          </a:p>
        </p:txBody>
      </p:sp>
      <p:sp>
        <p:nvSpPr>
          <p:cNvPr id="6" name="TextBox 5"/>
          <p:cNvSpPr txBox="1"/>
          <p:nvPr/>
        </p:nvSpPr>
        <p:spPr>
          <a:xfrm>
            <a:off x="365760" y="3657600"/>
            <a:ext cx="5486400" cy="1371600"/>
          </a:xfrm>
          <a:prstGeom prst="rect">
            <a:avLst/>
          </a:prstGeom>
          <a:noFill/>
        </p:spPr>
        <p:txBody>
          <a:bodyPr wrap="square">
            <a:spAutoFit/>
          </a:bodyPr>
          <a:lstStyle/>
          <a:p>
            <a:pPr>
              <a:defRPr sz="1800" b="1">
                <a:solidFill>
                  <a:srgbClr val="0F4C75"/>
                </a:solidFill>
                <a:latin typeface="Arial"/>
              </a:defRPr>
            </a:pPr>
            <a:r>
              <a:t>3. Nhận định kết quả</a:t>
            </a:r>
          </a:p>
          <a:p>
            <a:pPr>
              <a:spcBef>
                <a:spcPts val="400"/>
              </a:spcBef>
              <a:spcAft>
                <a:spcPts val="400"/>
              </a:spcAft>
              <a:defRPr sz="1600">
                <a:solidFill>
                  <a:srgbClr val="3C3C3C"/>
                </a:solidFill>
                <a:latin typeface="Arial"/>
              </a:defRPr>
            </a:pPr>
            <a:r>
              <a:t>▪ Đồ thị lượn sóng hình Sin đặc trưng với 2 đỉnh rõ rệt.</a:t>
            </a:r>
          </a:p>
          <a:p>
            <a:pPr>
              <a:spcBef>
                <a:spcPts val="400"/>
              </a:spcBef>
              <a:spcAft>
                <a:spcPts val="400"/>
              </a:spcAft>
              <a:defRPr sz="1600">
                <a:solidFill>
                  <a:srgbClr val="3C3C3C"/>
                </a:solidFill>
                <a:latin typeface="Arial"/>
              </a:defRPr>
            </a:pPr>
            <a:r>
              <a:t>▪ Đỉnh sáng (7h-8h): Dân văn phòng, học sinh tới trường.</a:t>
            </a:r>
          </a:p>
          <a:p>
            <a:pPr>
              <a:spcBef>
                <a:spcPts val="400"/>
              </a:spcBef>
              <a:spcAft>
                <a:spcPts val="400"/>
              </a:spcAft>
              <a:defRPr sz="1600">
                <a:solidFill>
                  <a:srgbClr val="3C3C3C"/>
                </a:solidFill>
                <a:latin typeface="Arial"/>
              </a:defRPr>
            </a:pPr>
            <a:r>
              <a:t>▪ Đỉnh chiều (17h-19h): Giờ tan tầm, bắt đầu các hoạt động vui chơi.</a:t>
            </a:r>
          </a:p>
        </p:txBody>
      </p:sp>
      <p:pic>
        <p:nvPicPr>
          <p:cNvPr id="7" name="Picture 6" descr="bieu_do_01_khung_gio_vn.png"/>
          <p:cNvPicPr>
            <a:picLocks noChangeAspect="1"/>
          </p:cNvPicPr>
          <p:nvPr/>
        </p:nvPicPr>
        <p:blipFill>
          <a:blip r:embed="rId2"/>
          <a:stretch>
            <a:fillRect/>
          </a:stretch>
        </p:blipFill>
        <p:spPr>
          <a:xfrm>
            <a:off x="5943600" y="1280160"/>
            <a:ext cx="5852160" cy="2468278"/>
          </a:xfrm>
          <a:prstGeom prst="rect">
            <a:avLst/>
          </a:prstGeom>
          <a:ln w="19050">
            <a:solidFill>
              <a:srgbClr val="C8C8C8"/>
            </a:solidFill>
          </a:ln>
        </p:spPr>
      </p:pic>
      <p:sp>
        <p:nvSpPr>
          <p:cNvPr id="8" name="Rounded Rectangle 7"/>
          <p:cNvSpPr/>
          <p:nvPr/>
        </p:nvSpPr>
        <p:spPr>
          <a:xfrm>
            <a:off x="365760" y="5486400"/>
            <a:ext cx="11430000" cy="1005840"/>
          </a:xfrm>
          <a:prstGeom prst="roundRect">
            <a:avLst/>
          </a:prstGeom>
          <a:solidFill>
            <a:srgbClr val="E1F0FA"/>
          </a:solidFill>
          <a:ln w="19050">
            <a:solidFill>
              <a:srgbClr val="3282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1">
                <a:solidFill>
                  <a:srgbClr val="0F4C75"/>
                </a:solidFill>
                <a:latin typeface="Arial"/>
              </a:defRPr>
            </a:pPr>
            <a:r>
              <a:t>💡 TẦM NHÌN CHIẾN LƯỢC / ỨNG DỤNG: Hệ thống cần tự động nhân giá (Surge Pricing) và gửi Push Notification gọi tài xế thức dậy trước 30 phút ở 2 đỉnh sóng này.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CÂU 2: Sự khác biệt về nhu cầu gọi xe giữa các ngày trong tuần là gì?</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88720"/>
            <a:ext cx="5486400" cy="1371600"/>
          </a:xfrm>
          <a:prstGeom prst="rect">
            <a:avLst/>
          </a:prstGeom>
          <a:noFill/>
        </p:spPr>
        <p:txBody>
          <a:bodyPr wrap="square">
            <a:spAutoFit/>
          </a:bodyPr>
          <a:lstStyle/>
          <a:p>
            <a:pPr>
              <a:defRPr sz="1800" b="1">
                <a:solidFill>
                  <a:srgbClr val="0F4C75"/>
                </a:solidFill>
                <a:latin typeface="Arial"/>
              </a:defRPr>
            </a:pPr>
            <a:r>
              <a:t>1. Phân tích bài toán</a:t>
            </a:r>
          </a:p>
          <a:p>
            <a:pPr>
              <a:spcBef>
                <a:spcPts val="400"/>
              </a:spcBef>
              <a:spcAft>
                <a:spcPts val="400"/>
              </a:spcAft>
              <a:defRPr sz="1600">
                <a:solidFill>
                  <a:srgbClr val="3C3C3C"/>
                </a:solidFill>
                <a:latin typeface="Arial"/>
              </a:defRPr>
            </a:pPr>
            <a:r>
              <a:t>▪ Đo lường mức độ chênh lệch lưu lượng để phân bổ Voucher.</a:t>
            </a:r>
          </a:p>
          <a:p>
            <a:pPr>
              <a:spcBef>
                <a:spcPts val="400"/>
              </a:spcBef>
              <a:spcAft>
                <a:spcPts val="400"/>
              </a:spcAft>
              <a:defRPr sz="1600">
                <a:solidFill>
                  <a:srgbClr val="3C3C3C"/>
                </a:solidFill>
                <a:latin typeface="Arial"/>
              </a:defRPr>
            </a:pPr>
            <a:r>
              <a:t>▪ Hiểu tâm lý và thói quen di chuyển của cư dân thành thị.</a:t>
            </a:r>
          </a:p>
        </p:txBody>
      </p:sp>
      <p:sp>
        <p:nvSpPr>
          <p:cNvPr id="5" name="TextBox 4"/>
          <p:cNvSpPr txBox="1"/>
          <p:nvPr/>
        </p:nvSpPr>
        <p:spPr>
          <a:xfrm>
            <a:off x="365760" y="2377440"/>
            <a:ext cx="5486400" cy="1371600"/>
          </a:xfrm>
          <a:prstGeom prst="rect">
            <a:avLst/>
          </a:prstGeom>
          <a:noFill/>
        </p:spPr>
        <p:txBody>
          <a:bodyPr wrap="square">
            <a:spAutoFit/>
          </a:bodyPr>
          <a:lstStyle/>
          <a:p>
            <a:pPr>
              <a:defRPr sz="1800" b="1">
                <a:solidFill>
                  <a:srgbClr val="0F4C75"/>
                </a:solidFill>
                <a:latin typeface="Arial"/>
              </a:defRPr>
            </a:pPr>
            <a:r>
              <a:t>2. Phương pháp tính</a:t>
            </a:r>
          </a:p>
          <a:p>
            <a:pPr>
              <a:spcBef>
                <a:spcPts val="400"/>
              </a:spcBef>
              <a:spcAft>
                <a:spcPts val="400"/>
              </a:spcAft>
              <a:defRPr sz="1600">
                <a:solidFill>
                  <a:srgbClr val="3C3C3C"/>
                </a:solidFill>
                <a:latin typeface="Arial"/>
              </a:defRPr>
            </a:pPr>
            <a:r>
              <a:t>▪ Dùng hàm dt.day_name() chuyển đổi và map sang tiếng Việt.</a:t>
            </a:r>
          </a:p>
          <a:p>
            <a:pPr>
              <a:spcBef>
                <a:spcPts val="400"/>
              </a:spcBef>
              <a:spcAft>
                <a:spcPts val="400"/>
              </a:spcAft>
              <a:defRPr sz="1600">
                <a:solidFill>
                  <a:srgbClr val="3C3C3C"/>
                </a:solidFill>
                <a:latin typeface="Arial"/>
              </a:defRPr>
            </a:pPr>
            <a:r>
              <a:t>▪ Biểu diễn trực quan bằng Biểu đồ Tròn (%) và Cột (số lượng).</a:t>
            </a:r>
          </a:p>
        </p:txBody>
      </p:sp>
      <p:sp>
        <p:nvSpPr>
          <p:cNvPr id="6" name="TextBox 5"/>
          <p:cNvSpPr txBox="1"/>
          <p:nvPr/>
        </p:nvSpPr>
        <p:spPr>
          <a:xfrm>
            <a:off x="365760" y="3657600"/>
            <a:ext cx="5486400" cy="1371600"/>
          </a:xfrm>
          <a:prstGeom prst="rect">
            <a:avLst/>
          </a:prstGeom>
          <a:noFill/>
        </p:spPr>
        <p:txBody>
          <a:bodyPr wrap="square">
            <a:spAutoFit/>
          </a:bodyPr>
          <a:lstStyle/>
          <a:p>
            <a:pPr>
              <a:defRPr sz="1800" b="1">
                <a:solidFill>
                  <a:srgbClr val="0F4C75"/>
                </a:solidFill>
                <a:latin typeface="Arial"/>
              </a:defRPr>
            </a:pPr>
            <a:r>
              <a:t>3. Nhận định kết quả</a:t>
            </a:r>
          </a:p>
          <a:p>
            <a:pPr>
              <a:spcBef>
                <a:spcPts val="400"/>
              </a:spcBef>
              <a:spcAft>
                <a:spcPts val="400"/>
              </a:spcAft>
              <a:defRPr sz="1600">
                <a:solidFill>
                  <a:srgbClr val="3C3C3C"/>
                </a:solidFill>
                <a:latin typeface="Arial"/>
              </a:defRPr>
            </a:pPr>
            <a:r>
              <a:t>▪ Thứ 7 và Chủ Nhật chiếm tỷ trọng cao áp đảo.</a:t>
            </a:r>
          </a:p>
          <a:p>
            <a:pPr>
              <a:spcBef>
                <a:spcPts val="400"/>
              </a:spcBef>
              <a:spcAft>
                <a:spcPts val="400"/>
              </a:spcAft>
              <a:defRPr sz="1600">
                <a:solidFill>
                  <a:srgbClr val="3C3C3C"/>
                </a:solidFill>
                <a:latin typeface="Arial"/>
              </a:defRPr>
            </a:pPr>
            <a:r>
              <a:t>▪ Ngày thường người dân tự đi xe máy, nhưng cuối tuần ưu tiên gọi xe công nghệ để thoải mái ăn mặc và tránh khói bụi.</a:t>
            </a:r>
          </a:p>
        </p:txBody>
      </p:sp>
      <p:pic>
        <p:nvPicPr>
          <p:cNvPr id="7" name="Picture 6" descr="bieu_do_02_ngay_tuan_vn.png"/>
          <p:cNvPicPr>
            <a:picLocks noChangeAspect="1"/>
          </p:cNvPicPr>
          <p:nvPr/>
        </p:nvPicPr>
        <p:blipFill>
          <a:blip r:embed="rId2"/>
          <a:stretch>
            <a:fillRect/>
          </a:stretch>
        </p:blipFill>
        <p:spPr>
          <a:xfrm>
            <a:off x="5943600" y="1280160"/>
            <a:ext cx="5852160" cy="2398279"/>
          </a:xfrm>
          <a:prstGeom prst="rect">
            <a:avLst/>
          </a:prstGeom>
          <a:ln w="19050">
            <a:solidFill>
              <a:srgbClr val="C8C8C8"/>
            </a:solidFill>
          </a:ln>
        </p:spPr>
      </p:pic>
      <p:sp>
        <p:nvSpPr>
          <p:cNvPr id="8" name="Rounded Rectangle 7"/>
          <p:cNvSpPr/>
          <p:nvPr/>
        </p:nvSpPr>
        <p:spPr>
          <a:xfrm>
            <a:off x="365760" y="5486400"/>
            <a:ext cx="11430000" cy="1005840"/>
          </a:xfrm>
          <a:prstGeom prst="roundRect">
            <a:avLst/>
          </a:prstGeom>
          <a:solidFill>
            <a:srgbClr val="E1F0FA"/>
          </a:solidFill>
          <a:ln w="19050">
            <a:solidFill>
              <a:srgbClr val="3282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1">
                <a:solidFill>
                  <a:srgbClr val="0F4C75"/>
                </a:solidFill>
                <a:latin typeface="Arial"/>
              </a:defRPr>
            </a:pPr>
            <a:r>
              <a:t>💡 TẦM NHÌN CHIẾN LƯỢC / ỨNG DỤNG: Cắt giảm khuyến mãi vào Cuối tuần vì nhu cầu tự nhiên đã rất lớn. Tập trung đẩy mạnh mã giảm giá vào các ngày thấp điểm (Thứ 3, Thứ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CÂU 3: Khu vực nào tại TP.HCM có số lượng đặt xe nhiều nhất?</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88720"/>
            <a:ext cx="5486400" cy="1371600"/>
          </a:xfrm>
          <a:prstGeom prst="rect">
            <a:avLst/>
          </a:prstGeom>
          <a:noFill/>
        </p:spPr>
        <p:txBody>
          <a:bodyPr wrap="square">
            <a:spAutoFit/>
          </a:bodyPr>
          <a:lstStyle/>
          <a:p>
            <a:pPr>
              <a:defRPr sz="1800" b="1">
                <a:solidFill>
                  <a:srgbClr val="0F4C75"/>
                </a:solidFill>
                <a:latin typeface="Arial"/>
              </a:defRPr>
            </a:pPr>
            <a:r>
              <a:t>1. Phân tích bài toán</a:t>
            </a:r>
          </a:p>
          <a:p>
            <a:pPr>
              <a:spcBef>
                <a:spcPts val="400"/>
              </a:spcBef>
              <a:spcAft>
                <a:spcPts val="400"/>
              </a:spcAft>
              <a:defRPr sz="1600">
                <a:solidFill>
                  <a:srgbClr val="3C3C3C"/>
                </a:solidFill>
                <a:latin typeface="Arial"/>
              </a:defRPr>
            </a:pPr>
            <a:r>
              <a:t>▪ Định vị chính xác các 'mỏ vàng' không gian trên bản đồ.</a:t>
            </a:r>
          </a:p>
          <a:p>
            <a:pPr>
              <a:spcBef>
                <a:spcPts val="400"/>
              </a:spcBef>
              <a:spcAft>
                <a:spcPts val="400"/>
              </a:spcAft>
              <a:defRPr sz="1600">
                <a:solidFill>
                  <a:srgbClr val="3C3C3C"/>
                </a:solidFill>
                <a:latin typeface="Arial"/>
              </a:defRPr>
            </a:pPr>
            <a:r>
              <a:t>▪ Dẫn đường cho chiến thuật rải xe rảnh rỗi.</a:t>
            </a:r>
          </a:p>
        </p:txBody>
      </p:sp>
      <p:sp>
        <p:nvSpPr>
          <p:cNvPr id="5" name="TextBox 4"/>
          <p:cNvSpPr txBox="1"/>
          <p:nvPr/>
        </p:nvSpPr>
        <p:spPr>
          <a:xfrm>
            <a:off x="365760" y="2377440"/>
            <a:ext cx="5486400" cy="1371600"/>
          </a:xfrm>
          <a:prstGeom prst="rect">
            <a:avLst/>
          </a:prstGeom>
          <a:noFill/>
        </p:spPr>
        <p:txBody>
          <a:bodyPr wrap="square">
            <a:spAutoFit/>
          </a:bodyPr>
          <a:lstStyle/>
          <a:p>
            <a:pPr>
              <a:defRPr sz="1800" b="1">
                <a:solidFill>
                  <a:srgbClr val="0F4C75"/>
                </a:solidFill>
                <a:latin typeface="Arial"/>
              </a:defRPr>
            </a:pPr>
            <a:r>
              <a:t>2. Phương pháp tính</a:t>
            </a:r>
          </a:p>
          <a:p>
            <a:pPr>
              <a:spcBef>
                <a:spcPts val="400"/>
              </a:spcBef>
              <a:spcAft>
                <a:spcPts val="400"/>
              </a:spcAft>
              <a:defRPr sz="1600">
                <a:solidFill>
                  <a:srgbClr val="3C3C3C"/>
                </a:solidFill>
                <a:latin typeface="Arial"/>
              </a:defRPr>
            </a:pPr>
            <a:r>
              <a:t>▪ Vẽ Scatter Plot với tham số làm mờ alpha=0.1.</a:t>
            </a:r>
          </a:p>
          <a:p>
            <a:pPr>
              <a:spcBef>
                <a:spcPts val="400"/>
              </a:spcBef>
              <a:spcAft>
                <a:spcPts val="400"/>
              </a:spcAft>
              <a:defRPr sz="1600">
                <a:solidFill>
                  <a:srgbClr val="3C3C3C"/>
                </a:solidFill>
                <a:latin typeface="Arial"/>
              </a:defRPr>
            </a:pPr>
            <a:r>
              <a:t>▪ Các điểm tọa độ đè lên nhau sẽ tự cộng dồn tạo thành mảng đen đặc.</a:t>
            </a:r>
          </a:p>
        </p:txBody>
      </p:sp>
      <p:sp>
        <p:nvSpPr>
          <p:cNvPr id="6" name="TextBox 5"/>
          <p:cNvSpPr txBox="1"/>
          <p:nvPr/>
        </p:nvSpPr>
        <p:spPr>
          <a:xfrm>
            <a:off x="365760" y="3657600"/>
            <a:ext cx="5486400" cy="1371600"/>
          </a:xfrm>
          <a:prstGeom prst="rect">
            <a:avLst/>
          </a:prstGeom>
          <a:noFill/>
        </p:spPr>
        <p:txBody>
          <a:bodyPr wrap="square">
            <a:spAutoFit/>
          </a:bodyPr>
          <a:lstStyle/>
          <a:p>
            <a:pPr>
              <a:defRPr sz="1800" b="1">
                <a:solidFill>
                  <a:srgbClr val="0F4C75"/>
                </a:solidFill>
                <a:latin typeface="Arial"/>
              </a:defRPr>
            </a:pPr>
            <a:r>
              <a:t>3. Nhận định kết quả</a:t>
            </a:r>
          </a:p>
          <a:p>
            <a:pPr>
              <a:spcBef>
                <a:spcPts val="400"/>
              </a:spcBef>
              <a:spcAft>
                <a:spcPts val="400"/>
              </a:spcAft>
              <a:defRPr sz="1600">
                <a:solidFill>
                  <a:srgbClr val="3C3C3C"/>
                </a:solidFill>
                <a:latin typeface="Arial"/>
              </a:defRPr>
            </a:pPr>
            <a:r>
              <a:t>▪ Quận 1: Trái tim kinh tế, mật độ tập trung dày đặc nhất.</a:t>
            </a:r>
          </a:p>
          <a:p>
            <a:pPr>
              <a:spcBef>
                <a:spcPts val="400"/>
              </a:spcBef>
              <a:spcAft>
                <a:spcPts val="400"/>
              </a:spcAft>
              <a:defRPr sz="1600">
                <a:solidFill>
                  <a:srgbClr val="3C3C3C"/>
                </a:solidFill>
                <a:latin typeface="Arial"/>
              </a:defRPr>
            </a:pPr>
            <a:r>
              <a:t>▪ Tân Bình: Nhu cầu trung chuyển khổng lồ từ Sân bay Tân Sơn Nhất bất kể ngày đêm.</a:t>
            </a:r>
          </a:p>
        </p:txBody>
      </p:sp>
      <p:pic>
        <p:nvPicPr>
          <p:cNvPr id="7" name="Picture 6" descr="bieu_do_03_khu_vuc_vn.png"/>
          <p:cNvPicPr>
            <a:picLocks noChangeAspect="1"/>
          </p:cNvPicPr>
          <p:nvPr/>
        </p:nvPicPr>
        <p:blipFill>
          <a:blip r:embed="rId2"/>
          <a:stretch>
            <a:fillRect/>
          </a:stretch>
        </p:blipFill>
        <p:spPr>
          <a:xfrm>
            <a:off x="5943600" y="1280160"/>
            <a:ext cx="5852160" cy="2319722"/>
          </a:xfrm>
          <a:prstGeom prst="rect">
            <a:avLst/>
          </a:prstGeom>
          <a:ln w="19050">
            <a:solidFill>
              <a:srgbClr val="C8C8C8"/>
            </a:solidFill>
          </a:ln>
        </p:spPr>
      </p:pic>
      <p:sp>
        <p:nvSpPr>
          <p:cNvPr id="8" name="Rounded Rectangle 7"/>
          <p:cNvSpPr/>
          <p:nvPr/>
        </p:nvSpPr>
        <p:spPr>
          <a:xfrm>
            <a:off x="365760" y="5486400"/>
            <a:ext cx="11430000" cy="1005840"/>
          </a:xfrm>
          <a:prstGeom prst="roundRect">
            <a:avLst/>
          </a:prstGeom>
          <a:solidFill>
            <a:srgbClr val="E1F0FA"/>
          </a:solidFill>
          <a:ln w="19050">
            <a:solidFill>
              <a:srgbClr val="3282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1">
                <a:solidFill>
                  <a:srgbClr val="0F4C75"/>
                </a:solidFill>
                <a:latin typeface="Arial"/>
              </a:defRPr>
            </a:pPr>
            <a:r>
              <a:t>💡 TẦM NHÌN CHIẾN LƯỢC / ỨNG DỤNG: Luôn duy trì một hàng đợi (Queue) các xe trống túc trực xung quanh Sân bay và lõi Quận 1 để giảm thời gian chờ đón khách.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CÂU 4: Khoảng cách di chuyển trung bình của mỗi chuyến đi là bao nhiêu?</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88720"/>
            <a:ext cx="5486400" cy="1371600"/>
          </a:xfrm>
          <a:prstGeom prst="rect">
            <a:avLst/>
          </a:prstGeom>
          <a:noFill/>
        </p:spPr>
        <p:txBody>
          <a:bodyPr wrap="square">
            <a:spAutoFit/>
          </a:bodyPr>
          <a:lstStyle/>
          <a:p>
            <a:pPr>
              <a:defRPr sz="1800" b="1">
                <a:solidFill>
                  <a:srgbClr val="0F4C75"/>
                </a:solidFill>
                <a:latin typeface="Arial"/>
              </a:defRPr>
            </a:pPr>
            <a:r>
              <a:t>1. Phân tích bài toán</a:t>
            </a:r>
          </a:p>
          <a:p>
            <a:pPr>
              <a:spcBef>
                <a:spcPts val="400"/>
              </a:spcBef>
              <a:spcAft>
                <a:spcPts val="400"/>
              </a:spcAft>
              <a:defRPr sz="1600">
                <a:solidFill>
                  <a:srgbClr val="3C3C3C"/>
                </a:solidFill>
                <a:latin typeface="Arial"/>
              </a:defRPr>
            </a:pPr>
            <a:r>
              <a:t>▪ Phân tích tệp khách hàng theo đặc thù cự ly.</a:t>
            </a:r>
          </a:p>
          <a:p>
            <a:pPr>
              <a:spcBef>
                <a:spcPts val="400"/>
              </a:spcBef>
              <a:spcAft>
                <a:spcPts val="400"/>
              </a:spcAft>
              <a:defRPr sz="1600">
                <a:solidFill>
                  <a:srgbClr val="3C3C3C"/>
                </a:solidFill>
                <a:latin typeface="Arial"/>
              </a:defRPr>
            </a:pPr>
            <a:r>
              <a:t>▪ Đánh giá mô hình doanh thu theo cuốc xe ngắn hay dài.</a:t>
            </a:r>
          </a:p>
        </p:txBody>
      </p:sp>
      <p:sp>
        <p:nvSpPr>
          <p:cNvPr id="5" name="TextBox 4"/>
          <p:cNvSpPr txBox="1"/>
          <p:nvPr/>
        </p:nvSpPr>
        <p:spPr>
          <a:xfrm>
            <a:off x="365760" y="2377440"/>
            <a:ext cx="5486400" cy="1371600"/>
          </a:xfrm>
          <a:prstGeom prst="rect">
            <a:avLst/>
          </a:prstGeom>
          <a:noFill/>
        </p:spPr>
        <p:txBody>
          <a:bodyPr wrap="square">
            <a:spAutoFit/>
          </a:bodyPr>
          <a:lstStyle/>
          <a:p>
            <a:pPr>
              <a:defRPr sz="1800" b="1">
                <a:solidFill>
                  <a:srgbClr val="0F4C75"/>
                </a:solidFill>
                <a:latin typeface="Arial"/>
              </a:defRPr>
            </a:pPr>
            <a:r>
              <a:t>2. Phương pháp tính</a:t>
            </a:r>
          </a:p>
          <a:p>
            <a:pPr>
              <a:spcBef>
                <a:spcPts val="400"/>
              </a:spcBef>
              <a:spcAft>
                <a:spcPts val="400"/>
              </a:spcAft>
              <a:defRPr sz="1600">
                <a:solidFill>
                  <a:srgbClr val="3C3C3C"/>
                </a:solidFill>
                <a:latin typeface="Arial"/>
              </a:defRPr>
            </a:pPr>
            <a:r>
              <a:t>▪ Sử dụng hàm describe() để tính toán trung bình, trung vị.</a:t>
            </a:r>
          </a:p>
          <a:p>
            <a:pPr>
              <a:spcBef>
                <a:spcPts val="400"/>
              </a:spcBef>
              <a:spcAft>
                <a:spcPts val="400"/>
              </a:spcAft>
              <a:defRPr sz="1600">
                <a:solidFill>
                  <a:srgbClr val="3C3C3C"/>
                </a:solidFill>
                <a:latin typeface="Arial"/>
              </a:defRPr>
            </a:pPr>
            <a:r>
              <a:t>▪ Vẽ Histogram (Biểu đồ phân suất) và Boxplot (Biểu đồ hộp).</a:t>
            </a:r>
          </a:p>
        </p:txBody>
      </p:sp>
      <p:sp>
        <p:nvSpPr>
          <p:cNvPr id="6" name="TextBox 5"/>
          <p:cNvSpPr txBox="1"/>
          <p:nvPr/>
        </p:nvSpPr>
        <p:spPr>
          <a:xfrm>
            <a:off x="365760" y="3657600"/>
            <a:ext cx="5486400" cy="1371600"/>
          </a:xfrm>
          <a:prstGeom prst="rect">
            <a:avLst/>
          </a:prstGeom>
          <a:noFill/>
        </p:spPr>
        <p:txBody>
          <a:bodyPr wrap="square">
            <a:spAutoFit/>
          </a:bodyPr>
          <a:lstStyle/>
          <a:p>
            <a:pPr>
              <a:defRPr sz="1800" b="1">
                <a:solidFill>
                  <a:srgbClr val="0F4C75"/>
                </a:solidFill>
                <a:latin typeface="Arial"/>
              </a:defRPr>
            </a:pPr>
            <a:r>
              <a:t>3. Nhận định kết quả</a:t>
            </a:r>
          </a:p>
          <a:p>
            <a:pPr>
              <a:spcBef>
                <a:spcPts val="400"/>
              </a:spcBef>
              <a:spcAft>
                <a:spcPts val="400"/>
              </a:spcAft>
              <a:defRPr sz="1600">
                <a:solidFill>
                  <a:srgbClr val="3C3C3C"/>
                </a:solidFill>
                <a:latin typeface="Arial"/>
              </a:defRPr>
            </a:pPr>
            <a:r>
              <a:t>▪ Đa số khách hàng đi chuyến cực ngắn trong nội thành (1km - 5km).</a:t>
            </a:r>
          </a:p>
          <a:p>
            <a:pPr>
              <a:spcBef>
                <a:spcPts val="400"/>
              </a:spcBef>
              <a:spcAft>
                <a:spcPts val="400"/>
              </a:spcAft>
              <a:defRPr sz="1600">
                <a:solidFill>
                  <a:srgbClr val="3C3C3C"/>
                </a:solidFill>
                <a:latin typeface="Arial"/>
              </a:defRPr>
            </a:pPr>
            <a:r>
              <a:t>▪ Phát hiện một nhóm nhỏ khách hàng ngoại lai (Outliers) đi siêu xa lên tới 30km.</a:t>
            </a:r>
          </a:p>
        </p:txBody>
      </p:sp>
      <p:pic>
        <p:nvPicPr>
          <p:cNvPr id="7" name="Picture 6" descr="bieu_do_04_quang_duong_vn.png"/>
          <p:cNvPicPr>
            <a:picLocks noChangeAspect="1"/>
          </p:cNvPicPr>
          <p:nvPr/>
        </p:nvPicPr>
        <p:blipFill>
          <a:blip r:embed="rId2"/>
          <a:stretch>
            <a:fillRect/>
          </a:stretch>
        </p:blipFill>
        <p:spPr>
          <a:xfrm>
            <a:off x="5943600" y="1280160"/>
            <a:ext cx="5852160" cy="2520884"/>
          </a:xfrm>
          <a:prstGeom prst="rect">
            <a:avLst/>
          </a:prstGeom>
          <a:ln w="19050">
            <a:solidFill>
              <a:srgbClr val="C8C8C8"/>
            </a:solidFill>
          </a:ln>
        </p:spPr>
      </p:pic>
      <p:sp>
        <p:nvSpPr>
          <p:cNvPr id="8" name="Rounded Rectangle 7"/>
          <p:cNvSpPr/>
          <p:nvPr/>
        </p:nvSpPr>
        <p:spPr>
          <a:xfrm>
            <a:off x="365760" y="5486400"/>
            <a:ext cx="11430000" cy="1005840"/>
          </a:xfrm>
          <a:prstGeom prst="roundRect">
            <a:avLst/>
          </a:prstGeom>
          <a:solidFill>
            <a:srgbClr val="E1F0FA"/>
          </a:solidFill>
          <a:ln w="19050">
            <a:solidFill>
              <a:srgbClr val="3282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1">
                <a:solidFill>
                  <a:srgbClr val="0F4C75"/>
                </a:solidFill>
                <a:latin typeface="Arial"/>
              </a:defRPr>
            </a:pPr>
            <a:r>
              <a:t>💡 TẦM NHÌN CHIẾN LƯỢC / ỨNG DỤNG: Lợi nhuận cuốc ngắn thấp nhưng vòng quay nhanh. Cần thuật toán 'Ghép chuyến liên hoàn' để tài xế đạt tối đa số chuyến/ngày mà không bị chạy rỗng.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CÂU 5: Tương quan giữa thời điểm và ngày trong tuần ảnh hưởng thế nào?</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88720"/>
            <a:ext cx="5486400" cy="1371600"/>
          </a:xfrm>
          <a:prstGeom prst="rect">
            <a:avLst/>
          </a:prstGeom>
          <a:noFill/>
        </p:spPr>
        <p:txBody>
          <a:bodyPr wrap="square">
            <a:spAutoFit/>
          </a:bodyPr>
          <a:lstStyle/>
          <a:p>
            <a:pPr>
              <a:defRPr sz="1800" b="1">
                <a:solidFill>
                  <a:srgbClr val="0F4C75"/>
                </a:solidFill>
                <a:latin typeface="Arial"/>
              </a:defRPr>
            </a:pPr>
            <a:r>
              <a:t>1. Phân tích bài toán</a:t>
            </a:r>
          </a:p>
          <a:p>
            <a:pPr>
              <a:spcBef>
                <a:spcPts val="400"/>
              </a:spcBef>
              <a:spcAft>
                <a:spcPts val="400"/>
              </a:spcAft>
              <a:defRPr sz="1600">
                <a:solidFill>
                  <a:srgbClr val="3C3C3C"/>
                </a:solidFill>
                <a:latin typeface="Arial"/>
              </a:defRPr>
            </a:pPr>
            <a:r>
              <a:t>▪ Khám phá sự khác biệt của hành vi giờ cao điểm theo từng ngày.</a:t>
            </a:r>
          </a:p>
        </p:txBody>
      </p:sp>
      <p:sp>
        <p:nvSpPr>
          <p:cNvPr id="5" name="TextBox 4"/>
          <p:cNvSpPr txBox="1"/>
          <p:nvPr/>
        </p:nvSpPr>
        <p:spPr>
          <a:xfrm>
            <a:off x="365760" y="2377440"/>
            <a:ext cx="5486400" cy="1371600"/>
          </a:xfrm>
          <a:prstGeom prst="rect">
            <a:avLst/>
          </a:prstGeom>
          <a:noFill/>
        </p:spPr>
        <p:txBody>
          <a:bodyPr wrap="square">
            <a:spAutoFit/>
          </a:bodyPr>
          <a:lstStyle/>
          <a:p>
            <a:pPr>
              <a:defRPr sz="1800" b="1">
                <a:solidFill>
                  <a:srgbClr val="0F4C75"/>
                </a:solidFill>
                <a:latin typeface="Arial"/>
              </a:defRPr>
            </a:pPr>
            <a:r>
              <a:t>2. Phương pháp tính</a:t>
            </a:r>
          </a:p>
          <a:p>
            <a:pPr>
              <a:spcBef>
                <a:spcPts val="400"/>
              </a:spcBef>
              <a:spcAft>
                <a:spcPts val="400"/>
              </a:spcAft>
              <a:defRPr sz="1600">
                <a:solidFill>
                  <a:srgbClr val="3C3C3C"/>
                </a:solidFill>
                <a:latin typeface="Arial"/>
              </a:defRPr>
            </a:pPr>
            <a:r>
              <a:t>▪ Lập Pivot Table: Hàng là Thứ, Cột là Giờ.</a:t>
            </a:r>
          </a:p>
          <a:p>
            <a:pPr>
              <a:spcBef>
                <a:spcPts val="400"/>
              </a:spcBef>
              <a:spcAft>
                <a:spcPts val="400"/>
              </a:spcAft>
              <a:defRPr sz="1600">
                <a:solidFill>
                  <a:srgbClr val="3C3C3C"/>
                </a:solidFill>
                <a:latin typeface="Arial"/>
              </a:defRPr>
            </a:pPr>
            <a:r>
              <a:t>▪ Trực quan bằng Seaborn Heatmap (Bản đồ nhiệt).</a:t>
            </a:r>
          </a:p>
        </p:txBody>
      </p:sp>
      <p:sp>
        <p:nvSpPr>
          <p:cNvPr id="6" name="TextBox 5"/>
          <p:cNvSpPr txBox="1"/>
          <p:nvPr/>
        </p:nvSpPr>
        <p:spPr>
          <a:xfrm>
            <a:off x="365760" y="3657600"/>
            <a:ext cx="5486400" cy="1371600"/>
          </a:xfrm>
          <a:prstGeom prst="rect">
            <a:avLst/>
          </a:prstGeom>
          <a:noFill/>
        </p:spPr>
        <p:txBody>
          <a:bodyPr wrap="square">
            <a:spAutoFit/>
          </a:bodyPr>
          <a:lstStyle/>
          <a:p>
            <a:pPr>
              <a:defRPr sz="1800" b="1">
                <a:solidFill>
                  <a:srgbClr val="0F4C75"/>
                </a:solidFill>
                <a:latin typeface="Arial"/>
              </a:defRPr>
            </a:pPr>
            <a:r>
              <a:t>3. Nhận định kết quả</a:t>
            </a:r>
          </a:p>
          <a:p>
            <a:pPr>
              <a:spcBef>
                <a:spcPts val="400"/>
              </a:spcBef>
              <a:spcAft>
                <a:spcPts val="400"/>
              </a:spcAft>
              <a:defRPr sz="1600">
                <a:solidFill>
                  <a:srgbClr val="3C3C3C"/>
                </a:solidFill>
                <a:latin typeface="Arial"/>
              </a:defRPr>
            </a:pPr>
            <a:r>
              <a:t>▪ Thứ 2 đến Thứ 6: Đỉnh sóng đi làm rất cứng nhắc lúc 7h và 17h.</a:t>
            </a:r>
          </a:p>
          <a:p>
            <a:pPr>
              <a:spcBef>
                <a:spcPts val="400"/>
              </a:spcBef>
              <a:spcAft>
                <a:spcPts val="400"/>
              </a:spcAft>
              <a:defRPr sz="1600">
                <a:solidFill>
                  <a:srgbClr val="3C3C3C"/>
                </a:solidFill>
                <a:latin typeface="Arial"/>
              </a:defRPr>
            </a:pPr>
            <a:r>
              <a:t>▪ Cuối tuần: 7h sáng trắng xóa. Đỉnh sóng chuyển dịch xuống 11h trưa và bùng nổ mạnh mẽ lúc 20h-23h (Nightlife).</a:t>
            </a:r>
          </a:p>
        </p:txBody>
      </p:sp>
      <p:pic>
        <p:nvPicPr>
          <p:cNvPr id="7" name="Picture 6" descr="bieu_do_05_thoi_gian_vn.png"/>
          <p:cNvPicPr>
            <a:picLocks noChangeAspect="1"/>
          </p:cNvPicPr>
          <p:nvPr/>
        </p:nvPicPr>
        <p:blipFill>
          <a:blip r:embed="rId2"/>
          <a:stretch>
            <a:fillRect/>
          </a:stretch>
        </p:blipFill>
        <p:spPr>
          <a:xfrm>
            <a:off x="5943600" y="1280160"/>
            <a:ext cx="5852160" cy="2471514"/>
          </a:xfrm>
          <a:prstGeom prst="rect">
            <a:avLst/>
          </a:prstGeom>
          <a:ln w="19050">
            <a:solidFill>
              <a:srgbClr val="C8C8C8"/>
            </a:solidFill>
          </a:ln>
        </p:spPr>
      </p:pic>
      <p:sp>
        <p:nvSpPr>
          <p:cNvPr id="8" name="Rounded Rectangle 7"/>
          <p:cNvSpPr/>
          <p:nvPr/>
        </p:nvSpPr>
        <p:spPr>
          <a:xfrm>
            <a:off x="365760" y="5486400"/>
            <a:ext cx="11430000" cy="1005840"/>
          </a:xfrm>
          <a:prstGeom prst="roundRect">
            <a:avLst/>
          </a:prstGeom>
          <a:solidFill>
            <a:srgbClr val="E1F0FA"/>
          </a:solidFill>
          <a:ln w="19050">
            <a:solidFill>
              <a:srgbClr val="3282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1">
                <a:solidFill>
                  <a:srgbClr val="0F4C75"/>
                </a:solidFill>
                <a:latin typeface="Arial"/>
              </a:defRPr>
            </a:pPr>
            <a:r>
              <a:t>💡 TẦM NHÌN CHIẾN LƯỢC / ỨNG DỤNG: Phá bỏ lịch làm việc cố định truyền thống. Điều động nhóm tài xế chuyên chạy 'Ca gãy ban đêm' vào cuối tuần để vợt trọn tệp khách đi Bar/Pub.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CÂU 6: Làm thế nào dự đoán chính xác số chuyến trong một giờ (GBR)?</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88720"/>
            <a:ext cx="5486400" cy="1371600"/>
          </a:xfrm>
          <a:prstGeom prst="rect">
            <a:avLst/>
          </a:prstGeom>
          <a:noFill/>
        </p:spPr>
        <p:txBody>
          <a:bodyPr wrap="square">
            <a:spAutoFit/>
          </a:bodyPr>
          <a:lstStyle/>
          <a:p>
            <a:pPr>
              <a:defRPr sz="1800" b="1">
                <a:solidFill>
                  <a:srgbClr val="0F4C75"/>
                </a:solidFill>
                <a:latin typeface="Arial"/>
              </a:defRPr>
            </a:pPr>
            <a:r>
              <a:t>1. Phân tích bài toán</a:t>
            </a:r>
          </a:p>
          <a:p>
            <a:pPr>
              <a:spcBef>
                <a:spcPts val="400"/>
              </a:spcBef>
              <a:spcAft>
                <a:spcPts val="400"/>
              </a:spcAft>
              <a:defRPr sz="1600">
                <a:solidFill>
                  <a:srgbClr val="3C3C3C"/>
                </a:solidFill>
                <a:latin typeface="Arial"/>
              </a:defRPr>
            </a:pPr>
            <a:r>
              <a:t>▪ Tiên tri lưu lượng trong 1 giờ tới để chuyển từ bị động sang chủ động.</a:t>
            </a:r>
          </a:p>
        </p:txBody>
      </p:sp>
      <p:sp>
        <p:nvSpPr>
          <p:cNvPr id="5" name="TextBox 4"/>
          <p:cNvSpPr txBox="1"/>
          <p:nvPr/>
        </p:nvSpPr>
        <p:spPr>
          <a:xfrm>
            <a:off x="365760" y="2377440"/>
            <a:ext cx="5486400" cy="1371600"/>
          </a:xfrm>
          <a:prstGeom prst="rect">
            <a:avLst/>
          </a:prstGeom>
          <a:noFill/>
        </p:spPr>
        <p:txBody>
          <a:bodyPr wrap="square">
            <a:spAutoFit/>
          </a:bodyPr>
          <a:lstStyle/>
          <a:p>
            <a:pPr>
              <a:defRPr sz="1800" b="1">
                <a:solidFill>
                  <a:srgbClr val="0F4C75"/>
                </a:solidFill>
                <a:latin typeface="Arial"/>
              </a:defRPr>
            </a:pPr>
            <a:r>
              <a:t>2. Phương pháp tính</a:t>
            </a:r>
          </a:p>
          <a:p>
            <a:pPr>
              <a:spcBef>
                <a:spcPts val="400"/>
              </a:spcBef>
              <a:spcAft>
                <a:spcPts val="400"/>
              </a:spcAft>
              <a:defRPr sz="1600">
                <a:solidFill>
                  <a:srgbClr val="3C3C3C"/>
                </a:solidFill>
                <a:latin typeface="Arial"/>
              </a:defRPr>
            </a:pPr>
            <a:r>
              <a:t>▪ Áp dụng thuật toán Gradient Boosting Regressor trên 80% dữ liệu Train.</a:t>
            </a:r>
          </a:p>
          <a:p>
            <a:pPr>
              <a:spcBef>
                <a:spcPts val="400"/>
              </a:spcBef>
              <a:spcAft>
                <a:spcPts val="400"/>
              </a:spcAft>
              <a:defRPr sz="1600">
                <a:solidFill>
                  <a:srgbClr val="3C3C3C"/>
                </a:solidFill>
                <a:latin typeface="Arial"/>
              </a:defRPr>
            </a:pPr>
            <a:r>
              <a:t>▪ Kiểm tra độ lệch trên 20% dữ liệu Test bằng MAE và R2 Score.</a:t>
            </a:r>
          </a:p>
        </p:txBody>
      </p:sp>
      <p:sp>
        <p:nvSpPr>
          <p:cNvPr id="6" name="TextBox 5"/>
          <p:cNvSpPr txBox="1"/>
          <p:nvPr/>
        </p:nvSpPr>
        <p:spPr>
          <a:xfrm>
            <a:off x="365760" y="3657600"/>
            <a:ext cx="5486400" cy="1371600"/>
          </a:xfrm>
          <a:prstGeom prst="rect">
            <a:avLst/>
          </a:prstGeom>
          <a:noFill/>
        </p:spPr>
        <p:txBody>
          <a:bodyPr wrap="square">
            <a:spAutoFit/>
          </a:bodyPr>
          <a:lstStyle/>
          <a:p>
            <a:pPr>
              <a:defRPr sz="1800" b="1">
                <a:solidFill>
                  <a:srgbClr val="0F4C75"/>
                </a:solidFill>
                <a:latin typeface="Arial"/>
              </a:defRPr>
            </a:pPr>
            <a:r>
              <a:t>3. Nhận định kết quả</a:t>
            </a:r>
          </a:p>
          <a:p>
            <a:pPr>
              <a:spcBef>
                <a:spcPts val="400"/>
              </a:spcBef>
              <a:spcAft>
                <a:spcPts val="400"/>
              </a:spcAft>
              <a:defRPr sz="1600">
                <a:solidFill>
                  <a:srgbClr val="3C3C3C"/>
                </a:solidFill>
                <a:latin typeface="Arial"/>
              </a:defRPr>
            </a:pPr>
            <a:r>
              <a:t>▪ Máy tính dự đoán lệch thực tế trung bình chỉ khoảng 3.5 chuyến.</a:t>
            </a:r>
          </a:p>
          <a:p>
            <a:pPr>
              <a:spcBef>
                <a:spcPts val="400"/>
              </a:spcBef>
              <a:spcAft>
                <a:spcPts val="400"/>
              </a:spcAft>
              <a:defRPr sz="1600">
                <a:solidFill>
                  <a:srgbClr val="3C3C3C"/>
                </a:solidFill>
                <a:latin typeface="Arial"/>
              </a:defRPr>
            </a:pPr>
            <a:r>
              <a:t>▪ Đặc trưng 'Tháng' và 'Giờ' đóng vai trò lớn nhất giúp máy dự đoán chuẩn (Feature Importance).</a:t>
            </a:r>
          </a:p>
        </p:txBody>
      </p:sp>
      <p:pic>
        <p:nvPicPr>
          <p:cNvPr id="7" name="Picture 6" descr="bieu_do_06_du_doan_vn.png"/>
          <p:cNvPicPr>
            <a:picLocks noChangeAspect="1"/>
          </p:cNvPicPr>
          <p:nvPr/>
        </p:nvPicPr>
        <p:blipFill>
          <a:blip r:embed="rId2"/>
          <a:stretch>
            <a:fillRect/>
          </a:stretch>
        </p:blipFill>
        <p:spPr>
          <a:xfrm>
            <a:off x="5943600" y="1280160"/>
            <a:ext cx="5852160" cy="2394203"/>
          </a:xfrm>
          <a:prstGeom prst="rect">
            <a:avLst/>
          </a:prstGeom>
          <a:ln w="19050">
            <a:solidFill>
              <a:srgbClr val="C8C8C8"/>
            </a:solidFill>
          </a:ln>
        </p:spPr>
      </p:pic>
      <p:sp>
        <p:nvSpPr>
          <p:cNvPr id="8" name="Rounded Rectangle 7"/>
          <p:cNvSpPr/>
          <p:nvPr/>
        </p:nvSpPr>
        <p:spPr>
          <a:xfrm>
            <a:off x="365760" y="5486400"/>
            <a:ext cx="11430000" cy="1005840"/>
          </a:xfrm>
          <a:prstGeom prst="roundRect">
            <a:avLst/>
          </a:prstGeom>
          <a:solidFill>
            <a:srgbClr val="E1F0FA"/>
          </a:solidFill>
          <a:ln w="19050">
            <a:solidFill>
              <a:srgbClr val="3282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1">
                <a:solidFill>
                  <a:srgbClr val="0F4C75"/>
                </a:solidFill>
                <a:latin typeface="Arial"/>
              </a:defRPr>
            </a:pPr>
            <a:r>
              <a:t>💡 TẦM NHÌN CHIẾN LƯỢC / ỨNG DỤNG: Nhúng AI vào Backend. Tự động tính toán trước 30 phút và ra lệnh cho các xe đang trống âm thầm di chuyển về khu vực sắp xảy ra bão nhu cầu.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CÂU 7: Làm thế nào để phân cụm Surge Pricing tự động (K-Means)?</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88720"/>
            <a:ext cx="5486400" cy="1371600"/>
          </a:xfrm>
          <a:prstGeom prst="rect">
            <a:avLst/>
          </a:prstGeom>
          <a:noFill/>
        </p:spPr>
        <p:txBody>
          <a:bodyPr wrap="square">
            <a:spAutoFit/>
          </a:bodyPr>
          <a:lstStyle/>
          <a:p>
            <a:pPr>
              <a:defRPr sz="1800" b="1">
                <a:solidFill>
                  <a:srgbClr val="0F4C75"/>
                </a:solidFill>
                <a:latin typeface="Arial"/>
              </a:defRPr>
            </a:pPr>
            <a:r>
              <a:t>1. Phân tích bài toán</a:t>
            </a:r>
          </a:p>
          <a:p>
            <a:pPr>
              <a:spcBef>
                <a:spcPts val="400"/>
              </a:spcBef>
              <a:spcAft>
                <a:spcPts val="400"/>
              </a:spcAft>
              <a:defRPr sz="1600">
                <a:solidFill>
                  <a:srgbClr val="3C3C3C"/>
                </a:solidFill>
                <a:latin typeface="Arial"/>
              </a:defRPr>
            </a:pPr>
            <a:r>
              <a:t>▪ Số hóa hoàn toàn quyết định tăng giá bằng máy tính thay vì cảm tính.</a:t>
            </a:r>
          </a:p>
        </p:txBody>
      </p:sp>
      <p:sp>
        <p:nvSpPr>
          <p:cNvPr id="5" name="TextBox 4"/>
          <p:cNvSpPr txBox="1"/>
          <p:nvPr/>
        </p:nvSpPr>
        <p:spPr>
          <a:xfrm>
            <a:off x="365760" y="2377440"/>
            <a:ext cx="5486400" cy="1371600"/>
          </a:xfrm>
          <a:prstGeom prst="rect">
            <a:avLst/>
          </a:prstGeom>
          <a:noFill/>
        </p:spPr>
        <p:txBody>
          <a:bodyPr wrap="square">
            <a:spAutoFit/>
          </a:bodyPr>
          <a:lstStyle/>
          <a:p>
            <a:pPr>
              <a:defRPr sz="1800" b="1">
                <a:solidFill>
                  <a:srgbClr val="0F4C75"/>
                </a:solidFill>
                <a:latin typeface="Arial"/>
              </a:defRPr>
            </a:pPr>
            <a:r>
              <a:t>2. Phương pháp tính</a:t>
            </a:r>
          </a:p>
          <a:p>
            <a:pPr>
              <a:spcBef>
                <a:spcPts val="400"/>
              </a:spcBef>
              <a:spcAft>
                <a:spcPts val="400"/>
              </a:spcAft>
              <a:defRPr sz="1600">
                <a:solidFill>
                  <a:srgbClr val="3C3C3C"/>
                </a:solidFill>
                <a:latin typeface="Arial"/>
              </a:defRPr>
            </a:pPr>
            <a:r>
              <a:t>▪ Chia bản đồ tọa độ thành các lưới Grid 500x500m.</a:t>
            </a:r>
          </a:p>
          <a:p>
            <a:pPr>
              <a:spcBef>
                <a:spcPts val="400"/>
              </a:spcBef>
              <a:spcAft>
                <a:spcPts val="400"/>
              </a:spcAft>
              <a:defRPr sz="1600">
                <a:solidFill>
                  <a:srgbClr val="3C3C3C"/>
                </a:solidFill>
                <a:latin typeface="Arial"/>
              </a:defRPr>
            </a:pPr>
            <a:r>
              <a:t>▪ Chạy thuật toán K-Means phân bản đồ làm 3 cụm nhu cầu dựa trên độ đông đúc.</a:t>
            </a:r>
          </a:p>
        </p:txBody>
      </p:sp>
      <p:sp>
        <p:nvSpPr>
          <p:cNvPr id="6" name="TextBox 5"/>
          <p:cNvSpPr txBox="1"/>
          <p:nvPr/>
        </p:nvSpPr>
        <p:spPr>
          <a:xfrm>
            <a:off x="365760" y="3657600"/>
            <a:ext cx="5486400" cy="1371600"/>
          </a:xfrm>
          <a:prstGeom prst="rect">
            <a:avLst/>
          </a:prstGeom>
          <a:noFill/>
        </p:spPr>
        <p:txBody>
          <a:bodyPr wrap="square">
            <a:spAutoFit/>
          </a:bodyPr>
          <a:lstStyle/>
          <a:p>
            <a:pPr>
              <a:defRPr sz="1800" b="1">
                <a:solidFill>
                  <a:srgbClr val="0F4C75"/>
                </a:solidFill>
                <a:latin typeface="Arial"/>
              </a:defRPr>
            </a:pPr>
            <a:r>
              <a:t>3. Nhận định kết quả</a:t>
            </a:r>
          </a:p>
          <a:p>
            <a:pPr>
              <a:spcBef>
                <a:spcPts val="400"/>
              </a:spcBef>
              <a:spcAft>
                <a:spcPts val="400"/>
              </a:spcAft>
              <a:defRPr sz="1600">
                <a:solidFill>
                  <a:srgbClr val="3C3C3C"/>
                </a:solidFill>
                <a:latin typeface="Arial"/>
              </a:defRPr>
            </a:pPr>
            <a:r>
              <a:t>▪ Cụm 0 (Màu Cam): Nhu cầu Rất Cao ở vùng Lõi trung tâm.</a:t>
            </a:r>
          </a:p>
          <a:p>
            <a:pPr>
              <a:spcBef>
                <a:spcPts val="400"/>
              </a:spcBef>
              <a:spcAft>
                <a:spcPts val="400"/>
              </a:spcAft>
              <a:defRPr sz="1600">
                <a:solidFill>
                  <a:srgbClr val="3C3C3C"/>
                </a:solidFill>
                <a:latin typeface="Arial"/>
              </a:defRPr>
            </a:pPr>
            <a:r>
              <a:t>▪ Cụm 1 (Màu Xanh Nhạt): Vùng đệm Nhu cầu Trung Bình.</a:t>
            </a:r>
          </a:p>
          <a:p>
            <a:pPr>
              <a:spcBef>
                <a:spcPts val="400"/>
              </a:spcBef>
              <a:spcAft>
                <a:spcPts val="400"/>
              </a:spcAft>
              <a:defRPr sz="1600">
                <a:solidFill>
                  <a:srgbClr val="3C3C3C"/>
                </a:solidFill>
                <a:latin typeface="Arial"/>
              </a:defRPr>
            </a:pPr>
            <a:r>
              <a:t>▪ Cụm 2 (Màu Xanh Đậm): Ngoại ô Vắng Vẻ.</a:t>
            </a:r>
          </a:p>
        </p:txBody>
      </p:sp>
      <p:pic>
        <p:nvPicPr>
          <p:cNvPr id="7" name="Picture 6" descr="bieu_do_07_phan_cum_vn.png"/>
          <p:cNvPicPr>
            <a:picLocks noChangeAspect="1"/>
          </p:cNvPicPr>
          <p:nvPr/>
        </p:nvPicPr>
        <p:blipFill>
          <a:blip r:embed="rId2"/>
          <a:stretch>
            <a:fillRect/>
          </a:stretch>
        </p:blipFill>
        <p:spPr>
          <a:xfrm>
            <a:off x="5943600" y="1280160"/>
            <a:ext cx="5852160" cy="2446346"/>
          </a:xfrm>
          <a:prstGeom prst="rect">
            <a:avLst/>
          </a:prstGeom>
          <a:ln w="19050">
            <a:solidFill>
              <a:srgbClr val="C8C8C8"/>
            </a:solidFill>
          </a:ln>
        </p:spPr>
      </p:pic>
      <p:sp>
        <p:nvSpPr>
          <p:cNvPr id="8" name="Rounded Rectangle 7"/>
          <p:cNvSpPr/>
          <p:nvPr/>
        </p:nvSpPr>
        <p:spPr>
          <a:xfrm>
            <a:off x="365760" y="5486400"/>
            <a:ext cx="11430000" cy="1005840"/>
          </a:xfrm>
          <a:prstGeom prst="roundRect">
            <a:avLst/>
          </a:prstGeom>
          <a:solidFill>
            <a:srgbClr val="E1F0FA"/>
          </a:solidFill>
          <a:ln w="19050">
            <a:solidFill>
              <a:srgbClr val="3282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1">
                <a:solidFill>
                  <a:srgbClr val="0F4C75"/>
                </a:solidFill>
                <a:latin typeface="Arial"/>
              </a:defRPr>
            </a:pPr>
            <a:r>
              <a:t>💡 TẦM NHÌN CHIẾN LƯỢC / ỨNG DỤNG: Tự động nhân cước x1.5 vào khách đặt xe từ Cụm Cam. Mức giá này đóng vai trò thỏi nam châm khổng lồ hút tài xế từ ngoại ô lao vào vùng Cam để giải cứu.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KẾT LUẬN &amp; ĐỀ XUẤT GIẢI PHÁP TỔNG THỂ</a:t>
            </a:r>
          </a:p>
        </p:txBody>
      </p:sp>
      <p:sp>
        <p:nvSpPr>
          <p:cNvPr id="3" name="Rectangle 2"/>
          <p:cNvSpPr/>
          <p:nvPr/>
        </p:nvSpPr>
        <p:spPr>
          <a:xfrm>
            <a:off x="0" y="1005840"/>
            <a:ext cx="12191695" cy="45720"/>
          </a:xfrm>
          <a:prstGeom prst="rect">
            <a:avLst/>
          </a:prstGeom>
          <a:solidFill>
            <a:srgbClr val="328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30000" cy="1371600"/>
          </a:xfrm>
          <a:prstGeom prst="rect">
            <a:avLst/>
          </a:prstGeom>
          <a:noFill/>
        </p:spPr>
        <p:txBody>
          <a:bodyPr wrap="square">
            <a:spAutoFit/>
          </a:bodyPr>
          <a:lstStyle/>
          <a:p>
            <a:pPr>
              <a:defRPr sz="1800" b="1">
                <a:solidFill>
                  <a:srgbClr val="0F4C75"/>
                </a:solidFill>
                <a:latin typeface="Arial"/>
              </a:defRPr>
            </a:pPr>
            <a:r>
              <a:t>1. Về mặt Phân tích Thống kê (EDA)</a:t>
            </a:r>
          </a:p>
          <a:p>
            <a:pPr>
              <a:spcBef>
                <a:spcPts val="400"/>
              </a:spcBef>
              <a:spcAft>
                <a:spcPts val="400"/>
              </a:spcAft>
              <a:defRPr sz="1600">
                <a:solidFill>
                  <a:srgbClr val="3C3C3C"/>
                </a:solidFill>
                <a:latin typeface="Arial"/>
              </a:defRPr>
            </a:pPr>
            <a:r>
              <a:t>▪ Hành vi giao thông tại TP.HCM mang tính chu kỳ cao (sáng đi làm, chiều về nhà) và tập trung mãnh liệt vào khu vực lõi Quận 1 và Sân bay.</a:t>
            </a:r>
          </a:p>
          <a:p>
            <a:pPr>
              <a:spcBef>
                <a:spcPts val="400"/>
              </a:spcBef>
              <a:spcAft>
                <a:spcPts val="400"/>
              </a:spcAft>
              <a:defRPr sz="1600">
                <a:solidFill>
                  <a:srgbClr val="3C3C3C"/>
                </a:solidFill>
                <a:latin typeface="Arial"/>
              </a:defRPr>
            </a:pPr>
            <a:r>
              <a:t>▪ Khách hàng chủ yếu dùng xe công nghệ đi chặng cực ngắn (dưới 5km).</a:t>
            </a:r>
          </a:p>
        </p:txBody>
      </p:sp>
      <p:sp>
        <p:nvSpPr>
          <p:cNvPr id="5" name="TextBox 4"/>
          <p:cNvSpPr txBox="1"/>
          <p:nvPr/>
        </p:nvSpPr>
        <p:spPr>
          <a:xfrm>
            <a:off x="365760" y="2743200"/>
            <a:ext cx="11430000" cy="1371600"/>
          </a:xfrm>
          <a:prstGeom prst="rect">
            <a:avLst/>
          </a:prstGeom>
          <a:noFill/>
        </p:spPr>
        <p:txBody>
          <a:bodyPr wrap="square">
            <a:spAutoFit/>
          </a:bodyPr>
          <a:lstStyle/>
          <a:p>
            <a:pPr>
              <a:defRPr sz="1800" b="1">
                <a:solidFill>
                  <a:srgbClr val="0F4C75"/>
                </a:solidFill>
                <a:latin typeface="Arial"/>
              </a:defRPr>
            </a:pPr>
            <a:r>
              <a:t>2. Đề xuất Tối ưu hóa Nguồn nhân lực</a:t>
            </a:r>
          </a:p>
          <a:p>
            <a:pPr>
              <a:spcBef>
                <a:spcPts val="400"/>
              </a:spcBef>
              <a:spcAft>
                <a:spcPts val="400"/>
              </a:spcAft>
              <a:defRPr sz="1600">
                <a:solidFill>
                  <a:srgbClr val="3C3C3C"/>
                </a:solidFill>
                <a:latin typeface="Arial"/>
              </a:defRPr>
            </a:pPr>
            <a:r>
              <a:t>▪ Cần xóa bỏ khái niệm làm việc 12 tiếng liên tục. Thay bằng chiến lược 'Giao Ca Linh Hoạt'.</a:t>
            </a:r>
          </a:p>
          <a:p>
            <a:pPr>
              <a:spcBef>
                <a:spcPts val="400"/>
              </a:spcBef>
              <a:spcAft>
                <a:spcPts val="400"/>
              </a:spcAft>
              <a:defRPr sz="1600">
                <a:solidFill>
                  <a:srgbClr val="3C3C3C"/>
                </a:solidFill>
                <a:latin typeface="Arial"/>
              </a:defRPr>
            </a:pPr>
            <a:r>
              <a:t>▪ Khuyến khích tài xế chạy ca gãy ban đêm vào cuối tuần để đánh chiếm thị trường Nightlife.</a:t>
            </a:r>
          </a:p>
        </p:txBody>
      </p:sp>
      <p:sp>
        <p:nvSpPr>
          <p:cNvPr id="6" name="TextBox 5"/>
          <p:cNvSpPr txBox="1"/>
          <p:nvPr/>
        </p:nvSpPr>
        <p:spPr>
          <a:xfrm>
            <a:off x="365760" y="4206240"/>
            <a:ext cx="11430000" cy="1371600"/>
          </a:xfrm>
          <a:prstGeom prst="rect">
            <a:avLst/>
          </a:prstGeom>
          <a:noFill/>
        </p:spPr>
        <p:txBody>
          <a:bodyPr wrap="square">
            <a:spAutoFit/>
          </a:bodyPr>
          <a:lstStyle/>
          <a:p>
            <a:pPr>
              <a:defRPr sz="1800" b="1">
                <a:solidFill>
                  <a:srgbClr val="0F4C75"/>
                </a:solidFill>
                <a:latin typeface="Arial"/>
              </a:defRPr>
            </a:pPr>
            <a:r>
              <a:t>3. Đề xuất Tích hợp AI (Machine Learning)</a:t>
            </a:r>
          </a:p>
          <a:p>
            <a:pPr>
              <a:spcBef>
                <a:spcPts val="400"/>
              </a:spcBef>
              <a:spcAft>
                <a:spcPts val="400"/>
              </a:spcAft>
              <a:defRPr sz="1600">
                <a:solidFill>
                  <a:srgbClr val="3C3C3C"/>
                </a:solidFill>
                <a:latin typeface="Arial"/>
              </a:defRPr>
            </a:pPr>
            <a:r>
              <a:t>▪ Thay thế cơ chế điều phối thụ động (chờ khách bấm app) bằng AI dự đoán trước nhu cầu 30 phút (GBR).</a:t>
            </a:r>
          </a:p>
          <a:p>
            <a:pPr>
              <a:spcBef>
                <a:spcPts val="400"/>
              </a:spcBef>
              <a:spcAft>
                <a:spcPts val="400"/>
              </a:spcAft>
              <a:defRPr sz="1600">
                <a:solidFill>
                  <a:srgbClr val="3C3C3C"/>
                </a:solidFill>
                <a:latin typeface="Arial"/>
              </a:defRPr>
            </a:pPr>
            <a:r>
              <a:t>▪ Tự động hóa hoàn toàn thuật toán Tăng Giá Động (Surge Pricing) bằng K-Means để đảm bảo tính minh bạch và tối đa hiệu quả luân chuyển.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ounded Rectangle 1"/>
          <p:cNvSpPr/>
          <p:nvPr/>
        </p:nvSpPr>
        <p:spPr>
          <a:xfrm>
            <a:off x="1371600" y="1828800"/>
            <a:ext cx="9448495" cy="320040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600" b="1">
                <a:solidFill>
                  <a:srgbClr val="FFFFFF"/>
                </a:solidFill>
              </a:defRPr>
            </a:pPr>
            <a:r>
              <a:t>CẢM ƠN QUÝ THẦY CÔ ĐÃ LẮNG NGHE!</a:t>
            </a:r>
          </a:p>
          <a:p>
            <a:pPr algn="ctr">
              <a:spcBef>
                <a:spcPts val="2000"/>
              </a:spcBef>
              <a:defRPr sz="2800">
                <a:solidFill>
                  <a:srgbClr val="BBE1FA"/>
                </a:solidFill>
              </a:defRPr>
            </a:pPr>
            <a: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